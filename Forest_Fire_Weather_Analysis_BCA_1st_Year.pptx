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t>Number of Records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</c:v>
                </c:pt>
                <c:pt idx="1">
                  <c:v>20</c:v>
                </c:pt>
                <c:pt idx="2">
                  <c:v>54</c:v>
                </c:pt>
                <c:pt idx="3">
                  <c:v>9</c:v>
                </c:pt>
                <c:pt idx="4">
                  <c:v>2</c:v>
                </c:pt>
                <c:pt idx="5">
                  <c:v>17</c:v>
                </c:pt>
                <c:pt idx="6">
                  <c:v>32</c:v>
                </c:pt>
                <c:pt idx="7">
                  <c:v>184</c:v>
                </c:pt>
                <c:pt idx="8">
                  <c:v>172</c:v>
                </c:pt>
                <c:pt idx="9">
                  <c:v>15</c:v>
                </c:pt>
                <c:pt idx="10">
                  <c:v>1</c:v>
                </c:pt>
                <c:pt idx="1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5F-4082-AF7C-D7BF44BD13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t>Average Burned Area by Temperature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&lt;10</c:v>
                </c:pt>
                <c:pt idx="1">
                  <c:v>10–15</c:v>
                </c:pt>
                <c:pt idx="2">
                  <c:v>15–20</c:v>
                </c:pt>
                <c:pt idx="3">
                  <c:v>20–25</c:v>
                </c:pt>
                <c:pt idx="4">
                  <c:v>25–30</c:v>
                </c:pt>
                <c:pt idx="5">
                  <c:v>30+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6.4163888888888891</c:v>
                </c:pt>
                <c:pt idx="1">
                  <c:v>5.2361038961038959</c:v>
                </c:pt>
                <c:pt idx="2">
                  <c:v>10.31121387283237</c:v>
                </c:pt>
                <c:pt idx="3">
                  <c:v>9.4352727272727268</c:v>
                </c:pt>
                <c:pt idx="4">
                  <c:v>48.479056603773586</c:v>
                </c:pt>
                <c:pt idx="5">
                  <c:v>7.5253846153846151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46-4722-9B8F-1FC0BB468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t>Total Burned Area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125.5</c:v>
                </c:pt>
                <c:pt idx="2">
                  <c:v>235.26</c:v>
                </c:pt>
                <c:pt idx="3">
                  <c:v>80.02000000000001</c:v>
                </c:pt>
                <c:pt idx="4">
                  <c:v>38.479999999999997</c:v>
                </c:pt>
                <c:pt idx="5">
                  <c:v>99.299999999999983</c:v>
                </c:pt>
                <c:pt idx="6">
                  <c:v>459.83</c:v>
                </c:pt>
                <c:pt idx="7">
                  <c:v>2297.9899999999998</c:v>
                </c:pt>
                <c:pt idx="8">
                  <c:v>3086.1299999999997</c:v>
                </c:pt>
                <c:pt idx="9">
                  <c:v>99.57</c:v>
                </c:pt>
                <c:pt idx="10">
                  <c:v>0</c:v>
                </c:pt>
                <c:pt idx="11">
                  <c:v>119.97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6-4819-8B77-12380B1EFF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/>
            </a:pPr>
            <a:r>
              <a:t>Correlation with Burned Area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temp</c:v>
                </c:pt>
                <c:pt idx="1">
                  <c:v>DMC</c:v>
                </c:pt>
                <c:pt idx="2">
                  <c:v>RH</c:v>
                </c:pt>
                <c:pt idx="3">
                  <c:v>wind</c:v>
                </c:pt>
                <c:pt idx="4">
                  <c:v>rain</c:v>
                </c:pt>
                <c:pt idx="5">
                  <c:v>ISI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9.7844107341684541E-2</c:v>
                </c:pt>
                <c:pt idx="1">
                  <c:v>7.2994296251057231E-2</c:v>
                </c:pt>
                <c:pt idx="2">
                  <c:v>-7.5518563469889236E-2</c:v>
                </c:pt>
                <c:pt idx="3">
                  <c:v>1.2317276888673108E-2</c:v>
                </c:pt>
                <c:pt idx="4">
                  <c:v>-7.3657292792922852E-3</c:v>
                </c:pt>
                <c:pt idx="5">
                  <c:v>8.2576878412267841E-3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9C-4DBC-A4C6-55E94316F7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149840" y="640080"/>
            <a:ext cx="1051560" cy="1051560"/>
          </a:xfrm>
          <a:prstGeom prst="ellipse">
            <a:avLst/>
          </a:prstGeom>
          <a:solidFill>
            <a:srgbClr val="C4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1417320"/>
            <a:ext cx="594360" cy="594360"/>
          </a:xfrm>
          <a:prstGeom prst="ellipse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38360" y="1783080"/>
            <a:ext cx="411480" cy="411480"/>
          </a:xfrm>
          <a:prstGeom prst="ellipse">
            <a:avLst/>
          </a:prstGeom>
          <a:solidFill>
            <a:srgbClr val="7E99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8961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FOREST FIRE &amp;</a:t>
            </a:r>
            <a:br/>
            <a:r>
              <a:t>WEATHER ANALYSIS</a:t>
            </a:r>
          </a:p>
          <a:p>
            <a:pPr>
              <a:spcBef>
                <a:spcPts val="1200"/>
              </a:spcBef>
              <a:defRPr sz="1700">
                <a:solidFill>
                  <a:srgbClr val="DCE6DC"/>
                </a:solidFill>
              </a:defRPr>
            </a:pPr>
            <a:r>
              <a:t>Data Analysis Project using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E6DC"/>
                </a:solidFill>
              </a:defRPr>
            </a:pPr>
            <a:r>
              <a:t>BCA – 1st Year</a:t>
            </a:r>
          </a:p>
          <a:p>
            <a:pPr>
              <a:defRPr sz="1300">
                <a:solidFill>
                  <a:srgbClr val="BECDC1"/>
                </a:solidFill>
              </a:defRPr>
            </a:pPr>
            <a:r>
              <a:t>Presented by: __________________</a:t>
            </a:r>
          </a:p>
          <a:p>
            <a:pPr>
              <a:defRPr sz="1300">
                <a:solidFill>
                  <a:srgbClr val="BECDC1"/>
                </a:solidFill>
              </a:defRPr>
            </a:pPr>
            <a:r>
              <a:t>College: 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1. Introduction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Forest fires can be affected by temperature, humidity, wind, rainfall and fuel conditions.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This project studies forest-fire and weather observations.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Python is used to clean, explore and visualize the dataset.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Main objective: understand patterns and relationships related to burned area.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17320"/>
            <a:ext cx="1645920" cy="118872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517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Dataset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417320"/>
            <a:ext cx="1645920" cy="118872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0" y="155448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13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92608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30632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area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Target variable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38912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45262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hectares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Unit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2. 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B66"/>
                </a:solidFill>
                <a:latin typeface="Aptos"/>
              </a:defRPr>
            </a:pPr>
            <a:r>
              <a:t>Forest Fires dataset – UCI Machine Learning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Dataset location: Montesinho Natural Park, northeast Portugal.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Original dataset: 517 observations and 12 input variables.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The target variable, area, represents burned forest area in hectares.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Variables include spatial information, weather measurements and Fire Weather Index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63040"/>
            <a:ext cx="1554480" cy="118872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6002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517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463040"/>
            <a:ext cx="1554480" cy="118872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55480" y="1600200"/>
            <a:ext cx="1280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13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971800"/>
            <a:ext cx="3291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310896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1090.84 ha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Maximum area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434840"/>
            <a:ext cx="3291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457200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0.52 ha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Median area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3. Data Types &amp; Variables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8813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274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74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74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X, 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Spatial coordinates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month, day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Categorical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Time information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FFMC, DMC, DC, 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Fire Weather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temp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Temperature (°C)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Relative humidity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wind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Wind speed (km/h)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Rainfall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12E"/>
                          </a:solidFill>
                        </a:defRPr>
                      </a:pPr>
                      <a:r>
                        <a:t>Burned area (ha)</a:t>
                      </a:r>
                    </a:p>
                  </a:txBody>
                  <a:tcPr>
                    <a:solidFill>
                      <a:srgbClr val="E2E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4. Tools Used for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3246120" cy="141732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Programming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6304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Data analysis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63040"/>
            <a:ext cx="3246120" cy="141732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Calculations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832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Charts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383280"/>
            <a:ext cx="3246120" cy="141732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520440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Visualizations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Seaborn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3832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3520440"/>
            <a:ext cx="2971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Coding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VS Code / Jupyter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5. Data Quality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37160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517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Total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468880" cy="137160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3320" y="160020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0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21945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4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463040"/>
            <a:ext cx="21031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72600" y="1600200"/>
            <a:ext cx="18287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270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Positive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No missing values were found in the uploaded CSV.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4 exact duplicate rows were identified.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The area variable is highly right-skewed.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The dataset is suitable for exploratory analysis after basic quality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6. Descriptive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29200" cy="150876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18.89 °C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B66"/>
                </a:solidFill>
              </a:defRPr>
            </a:pPr>
            <a:r>
              <a:t>Range: 2.20 – 33.30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37160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7548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44.29 %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Humidity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2377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B66"/>
                </a:solidFill>
              </a:defRPr>
            </a:pPr>
            <a:r>
              <a:t>Range: 15 –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83280"/>
            <a:ext cx="5029200" cy="150876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7548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4.02 km/h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B66"/>
                </a:solidFill>
              </a:defRPr>
            </a:pPr>
            <a:r>
              <a:t>Range: 0.40 – 9.40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383280"/>
            <a:ext cx="5029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520440"/>
            <a:ext cx="4754880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12.85 ha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Area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3891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B66"/>
                </a:solidFill>
              </a:defRPr>
            </a:pPr>
            <a:r>
              <a:t>Range: 0 – 1090.84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Mean burned area is much higher than the median, showing strong skewness.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7. Univariate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325880"/>
          <a:ext cx="65836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43800" y="155448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August has the most observations: 184.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September is next: 172.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247 records have zero burned area.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270 records have positive burned area.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8. Bivariate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B66"/>
                </a:solidFill>
                <a:latin typeface="Aptos"/>
              </a:defRPr>
            </a:pPr>
            <a:r>
              <a:t>Temperature vs burned area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325880"/>
          <a:ext cx="65836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55448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Pearson correlation: 0.098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The linear relationship is very weak and positive.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The chart uses temperature groups to make the pattern easier to read.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Correlation does not prove causation.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9. Grouping &amp;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6B66"/>
                </a:solidFill>
                <a:latin typeface="Aptos"/>
              </a:defRPr>
            </a:pPr>
            <a:r>
              <a:t>Monthly total burned area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25880"/>
          <a:ext cx="68580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5544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Sep has the highest total burned area in the grouped analysis.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Total for Sep: 3086.13 ha.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August also shows high fire activity.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Grouping helps identify seasonal 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10. Correlation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68580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5544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Temperature has the largest positive correlation among these weather variables.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Relative humidity has a weak negative correlation.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Most correlations are close to zero.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Correlation measures linear association, not cause and effect.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11.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029200" cy="160020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Burned-area distribution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Histogram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41732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Monthly observations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Bar 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39"/>
            <a:ext cx="5029200" cy="160020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57599"/>
            <a:ext cx="47548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Average/total area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Grouped bar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3520439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657599"/>
            <a:ext cx="47548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Weather variables vs area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Correlation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Charts make distributions, comparisons and relationships easier to understand.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12.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The dataset contains 517 forest-fire observations.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No missing values were found; 4 duplicate rows were identified.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August and September contain the largest number of observations.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Burned area is highly right-skewed.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Temperature has a weak positive linear relationship with burned area.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Humidity has a weak negative relationship.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Simple correlations do not strongly explain burned area.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13.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E6EEE4"/>
                </a:solidFill>
                <a:latin typeface="Aptos"/>
              </a:defRPr>
            </a:pPr>
            <a:r>
              <a:t>• The analysis shows seasonal variation in forest-fire observations.</a:t>
            </a:r>
          </a:p>
          <a:p>
            <a:pPr>
              <a:spcAft>
                <a:spcPts val="900"/>
              </a:spcAft>
              <a:defRPr sz="1900">
                <a:solidFill>
                  <a:srgbClr val="E6EEE4"/>
                </a:solidFill>
                <a:latin typeface="Aptos"/>
              </a:defRPr>
            </a:pPr>
            <a:r>
              <a:t>• September has the highest total burned area in the grouped analysis.</a:t>
            </a:r>
          </a:p>
          <a:p>
            <a:pPr>
              <a:spcAft>
                <a:spcPts val="900"/>
              </a:spcAft>
              <a:defRPr sz="1900">
                <a:solidFill>
                  <a:srgbClr val="E6EEE4"/>
                </a:solidFill>
                <a:latin typeface="Aptos"/>
              </a:defRPr>
            </a:pPr>
            <a:r>
              <a:t>• Individual weather variables show weak linear correlations with burned area.</a:t>
            </a:r>
          </a:p>
          <a:p>
            <a:pPr>
              <a:spcAft>
                <a:spcPts val="900"/>
              </a:spcAft>
              <a:defRPr sz="1900">
                <a:solidFill>
                  <a:srgbClr val="E6EEE4"/>
                </a:solidFill>
                <a:latin typeface="Aptos"/>
              </a:defRPr>
            </a:pPr>
            <a:r>
              <a:t>• More advanced analysis or machine-learning models could be used for prediction.</a:t>
            </a:r>
          </a:p>
          <a:p>
            <a:pPr>
              <a:spcAft>
                <a:spcPts val="900"/>
              </a:spcAft>
              <a:defRPr sz="1900">
                <a:solidFill>
                  <a:srgbClr val="E6EEE4"/>
                </a:solidFill>
                <a:latin typeface="Aptos"/>
              </a:defRPr>
            </a:pPr>
            <a:r>
              <a:t>• The project demonstrates a basic real-world data-analysis workflow in Python.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19672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DC1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DC1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14.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2D312E"/>
                </a:solidFill>
                <a:latin typeface="Aptos"/>
              </a:defRPr>
            </a:pPr>
            <a:r>
              <a:t>• UCI Machine Learning Repository – Forest Fires Dataset</a:t>
            </a:r>
          </a:p>
          <a:p>
            <a:pPr>
              <a:spcAft>
                <a:spcPts val="900"/>
              </a:spcAft>
              <a:defRPr sz="1200">
                <a:solidFill>
                  <a:srgbClr val="2D312E"/>
                </a:solidFill>
                <a:latin typeface="Aptos"/>
              </a:defRPr>
            </a:pPr>
            <a:r>
              <a:t>• https://archive.ics.uci.edu/dataset/162/forest%2Bfires</a:t>
            </a:r>
          </a:p>
          <a:p>
            <a:pPr>
              <a:spcAft>
                <a:spcPts val="900"/>
              </a:spcAft>
              <a:defRPr sz="1200">
                <a:solidFill>
                  <a:srgbClr val="2D312E"/>
                </a:solidFill>
                <a:latin typeface="Aptos"/>
              </a:defRPr>
            </a:pPr>
            <a:r>
              <a:t>• Cortez, P. &amp; Morais, A. (2007) – A Data Mining Approach to Predict Forest Fires using Meteorological Data</a:t>
            </a:r>
          </a:p>
          <a:p>
            <a:pPr>
              <a:spcAft>
                <a:spcPts val="900"/>
              </a:spcAft>
              <a:defRPr sz="1200">
                <a:solidFill>
                  <a:srgbClr val="2D312E"/>
                </a:solidFill>
                <a:latin typeface="Aptos"/>
              </a:defRPr>
            </a:pPr>
            <a:r>
              <a:t>• https://www.researchgate.net/publication/238767143_A_Data_Mining_Approach_to_Predict_Forest_Fires_using_Meteorological_Data</a:t>
            </a:r>
          </a:p>
          <a:p>
            <a:pPr>
              <a:spcAft>
                <a:spcPts val="900"/>
              </a:spcAft>
              <a:defRPr sz="1200">
                <a:solidFill>
                  <a:srgbClr val="2D312E"/>
                </a:solidFill>
                <a:latin typeface="Aptos"/>
              </a:defRPr>
            </a:pPr>
            <a:r>
              <a:t>• Natural Resources Canada – Canada's Fire Weather Index System</a:t>
            </a:r>
          </a:p>
          <a:p>
            <a:pPr>
              <a:spcAft>
                <a:spcPts val="900"/>
              </a:spcAft>
              <a:defRPr sz="1200">
                <a:solidFill>
                  <a:srgbClr val="2D312E"/>
                </a:solidFill>
                <a:latin typeface="Aptos"/>
              </a:defRPr>
            </a:pPr>
            <a:r>
              <a:t>• https://natural-resources.canada.ca/forests-forestry/wildland-fires/canada-fire-weather-index-system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7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74432"/>
                </a:solidFill>
                <a:latin typeface="Aptos Display"/>
              </a:defRPr>
            </a:pPr>
            <a:r>
              <a:t>15. Code (GitHub)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Upload the Python code, notebook and CSV to your own GitHub repository.</a:t>
            </a:r>
          </a:p>
          <a:p>
            <a:pPr>
              <a:spcAft>
                <a:spcPts val="900"/>
              </a:spcAft>
              <a:defRPr sz="1700">
                <a:solidFill>
                  <a:srgbClr val="2D312E"/>
                </a:solidFill>
                <a:latin typeface="Aptos"/>
              </a:defRPr>
            </a:pPr>
            <a:r>
              <a:t>• Suggested files: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forestfires.csv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forest_fire_analysis.py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Forest_Fire_Analysis.ipynb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README.md</a:t>
            </a:r>
          </a:p>
          <a:p>
            <a:pPr>
              <a:spcAft>
                <a:spcPts val="900"/>
              </a:spcAft>
              <a:defRPr sz="1500">
                <a:solidFill>
                  <a:srgbClr val="2D312E"/>
                </a:solidFill>
                <a:latin typeface="Aptos"/>
              </a:defRPr>
            </a:pPr>
            <a:r>
              <a:t>• visualizations/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743200"/>
            <a:ext cx="4480560" cy="1554480"/>
          </a:xfrm>
          <a:prstGeom prst="roundRect">
            <a:avLst/>
          </a:prstGeom>
          <a:solidFill>
            <a:srgbClr val="E2ECE0"/>
          </a:solidFill>
          <a:ln>
            <a:solidFill>
              <a:srgbClr val="D7D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2880360"/>
            <a:ext cx="4206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274432"/>
                </a:solidFill>
                <a:latin typeface="Aptos Display"/>
              </a:defRPr>
            </a:pPr>
            <a:r>
              <a:t>Paste your link here</a:t>
            </a:r>
          </a:p>
          <a:p>
            <a:pPr algn="ctr">
              <a:defRPr sz="1000">
                <a:solidFill>
                  <a:srgbClr val="646B66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D7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19672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B66"/>
                </a:solidFill>
              </a:defRPr>
            </a:pPr>
            <a:r>
              <a:t>Forest Fire &amp; Weather Analysis | BCA 1st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01384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B66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0632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CE6DC"/>
                </a:solidFill>
              </a:defRPr>
            </a:pPr>
            <a:r>
              <a:t>Forest Fire &amp; Weather Analysis</a:t>
            </a:r>
          </a:p>
          <a:p>
            <a:pPr algn="ctr">
              <a:defRPr sz="1500">
                <a:solidFill>
                  <a:srgbClr val="BECDC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1049</Words>
  <Application>Microsoft Office PowerPoint</Application>
  <PresentationFormat>Widescreen</PresentationFormat>
  <Paragraphs>200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chaudharyakash3279@outlook.com</cp:lastModifiedBy>
  <cp:revision>1</cp:revision>
  <dcterms:created xsi:type="dcterms:W3CDTF">2013-01-27T09:14:16Z</dcterms:created>
  <dcterms:modified xsi:type="dcterms:W3CDTF">2026-10-01T13:27:27Z</dcterms:modified>
  <cp:category/>
</cp:coreProperties>
</file>